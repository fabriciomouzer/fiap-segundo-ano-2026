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cb062736c4fe7" /><Relationship Type="http://schemas.openxmlformats.org/officeDocument/2006/relationships/extended-properties" Target="/docProps/app.xml" Id="Rc9c06422a94e4c92" /><Relationship Type="http://schemas.openxmlformats.org/officeDocument/2006/relationships/officeDocument" Target="/ppt/presentation.xml" Id="R608fd84e78d1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3c31f986aa42cb"/>
  </p:sldMasterIdLst>
  <p:notesMasterIdLst>
    <p:notesMasterId xmlns:r="http://schemas.openxmlformats.org/officeDocument/2006/relationships" r:id="Rc5bb8404c2a640d7"/>
  </p:notesMasterIdLst>
  <p:sldIdLst>
    <p:sldId xmlns:r="http://schemas.openxmlformats.org/officeDocument/2006/relationships" id="256" r:id="R41ae4b9c426244aa"/>
    <p:sldId xmlns:r="http://schemas.openxmlformats.org/officeDocument/2006/relationships" id="257" r:id="R1f0ebec7c94e4d91"/>
    <p:sldId xmlns:r="http://schemas.openxmlformats.org/officeDocument/2006/relationships" id="258" r:id="Rf607077d56d44c18"/>
    <p:sldId xmlns:r="http://schemas.openxmlformats.org/officeDocument/2006/relationships" id="259" r:id="Rccba251177d84b5f"/>
    <p:sldId xmlns:r="http://schemas.openxmlformats.org/officeDocument/2006/relationships" id="260" r:id="R1dbcb9c299054b31"/>
    <p:sldId xmlns:r="http://schemas.openxmlformats.org/officeDocument/2006/relationships" id="261" r:id="Reef246737d9f41ee"/>
    <p:sldId xmlns:r="http://schemas.openxmlformats.org/officeDocument/2006/relationships" id="262" r:id="R94a6b982855a4616"/>
    <p:sldId xmlns:r="http://schemas.openxmlformats.org/officeDocument/2006/relationships" id="263" r:id="R6552aa5e98564487"/>
    <p:sldId xmlns:r="http://schemas.openxmlformats.org/officeDocument/2006/relationships" id="264" r:id="R9be61da10105412c"/>
    <p:sldId xmlns:r="http://schemas.openxmlformats.org/officeDocument/2006/relationships" id="265" r:id="Rb1e85f2c4b424980"/>
    <p:sldId xmlns:r="http://schemas.openxmlformats.org/officeDocument/2006/relationships" id="266" r:id="Rd473c319748043ec"/>
    <p:sldId xmlns:r="http://schemas.openxmlformats.org/officeDocument/2006/relationships" id="267" r:id="R9114dd342691465a"/>
    <p:sldId xmlns:r="http://schemas.openxmlformats.org/officeDocument/2006/relationships" id="268" r:id="R33b34b702b6a40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34dc158874651" /><Relationship Type="http://schemas.openxmlformats.org/officeDocument/2006/relationships/slideMaster" Target="/ppt/slideMasters/slideMaster1.xml" Id="R323c31f986aa42cb" /><Relationship Type="http://schemas.openxmlformats.org/officeDocument/2006/relationships/notesMaster" Target="/ppt/notesMasters/notesMaster1.xml" Id="Rc5bb8404c2a640d7" /><Relationship Type="http://schemas.openxmlformats.org/officeDocument/2006/relationships/presProps" Target="/ppt/presProps.xml" Id="Rf645ec64d11a43d8" /><Relationship Type="http://schemas.openxmlformats.org/officeDocument/2006/relationships/tableStyles" Target="/ppt/tableStyles.xml" Id="R1552540d5f364570" /><Relationship Type="http://schemas.openxmlformats.org/officeDocument/2006/relationships/slide" Target="/ppt/slides/slide1.xml" Id="R41ae4b9c426244aa" /><Relationship Type="http://schemas.openxmlformats.org/officeDocument/2006/relationships/slide" Target="/ppt/slides/slide2.xml" Id="R1f0ebec7c94e4d91" /><Relationship Type="http://schemas.openxmlformats.org/officeDocument/2006/relationships/slide" Target="/ppt/slides/slide3.xml" Id="Rf607077d56d44c18" /><Relationship Type="http://schemas.openxmlformats.org/officeDocument/2006/relationships/slide" Target="/ppt/slides/slide4.xml" Id="Rccba251177d84b5f" /><Relationship Type="http://schemas.openxmlformats.org/officeDocument/2006/relationships/slide" Target="/ppt/slides/slide5.xml" Id="R1dbcb9c299054b31" /><Relationship Type="http://schemas.openxmlformats.org/officeDocument/2006/relationships/slide" Target="/ppt/slides/slide6.xml" Id="Reef246737d9f41ee" /><Relationship Type="http://schemas.openxmlformats.org/officeDocument/2006/relationships/slide" Target="/ppt/slides/slide7.xml" Id="R94a6b982855a4616" /><Relationship Type="http://schemas.openxmlformats.org/officeDocument/2006/relationships/slide" Target="/ppt/slides/slide8.xml" Id="R6552aa5e98564487" /><Relationship Type="http://schemas.openxmlformats.org/officeDocument/2006/relationships/slide" Target="/ppt/slides/slide9.xml" Id="R9be61da10105412c" /><Relationship Type="http://schemas.openxmlformats.org/officeDocument/2006/relationships/slide" Target="/ppt/slides/slide10.xml" Id="Rb1e85f2c4b424980" /><Relationship Type="http://schemas.openxmlformats.org/officeDocument/2006/relationships/slide" Target="/ppt/slides/slide11.xml" Id="Rd473c319748043ec" /><Relationship Type="http://schemas.openxmlformats.org/officeDocument/2006/relationships/slide" Target="/ppt/slides/slide12.xml" Id="R9114dd342691465a" /><Relationship Type="http://schemas.openxmlformats.org/officeDocument/2006/relationships/slide" Target="/ppt/slides/slide13.xml" Id="R33b34b702b6a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21c2f56c80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8224617914301" /><Relationship Type="http://schemas.openxmlformats.org/officeDocument/2006/relationships/notesMaster" Target="/ppt/notesMasters/notesMaster1.xml" Id="R6ae50903b5fd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124fa3092b4b04" /><Relationship Type="http://schemas.openxmlformats.org/officeDocument/2006/relationships/notesMaster" Target="/ppt/notesMasters/notesMaster1.xml" Id="Re5aad2a45555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7c9d24b97e4277" /><Relationship Type="http://schemas.openxmlformats.org/officeDocument/2006/relationships/notesMaster" Target="/ppt/notesMasters/notesMaster1.xml" Id="Rbdecf431f75a44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9d2b0a3634818" /><Relationship Type="http://schemas.openxmlformats.org/officeDocument/2006/relationships/notesMaster" Target="/ppt/notesMasters/notesMaster1.xml" Id="Ra3d375e06d06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a26336c8f1443d" /><Relationship Type="http://schemas.openxmlformats.org/officeDocument/2006/relationships/notesMaster" Target="/ppt/notesMasters/notesMaster1.xml" Id="Rea6a4a1378ce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806669cb64e02" /><Relationship Type="http://schemas.openxmlformats.org/officeDocument/2006/relationships/notesMaster" Target="/ppt/notesMasters/notesMaster1.xml" Id="R88cc3c311de148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79b6a116d4da4" /><Relationship Type="http://schemas.openxmlformats.org/officeDocument/2006/relationships/notesMaster" Target="/ppt/notesMasters/notesMaster1.xml" Id="R3cd91eedcd9044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8de589b664f96" /><Relationship Type="http://schemas.openxmlformats.org/officeDocument/2006/relationships/notesMaster" Target="/ppt/notesMasters/notesMaster1.xml" Id="Rb7e0901e840447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890a5df883427a" /><Relationship Type="http://schemas.openxmlformats.org/officeDocument/2006/relationships/notesMaster" Target="/ppt/notesMasters/notesMaster1.xml" Id="R442be7ee698a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66ef6b34734641" /><Relationship Type="http://schemas.openxmlformats.org/officeDocument/2006/relationships/notesMaster" Target="/ppt/notesMasters/notesMaster1.xml" Id="Rc457416486f64b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911be59c1b429d" /><Relationship Type="http://schemas.openxmlformats.org/officeDocument/2006/relationships/notesMaster" Target="/ppt/notesMasters/notesMaster1.xml" Id="R26e7d919c07a49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3a56aed7e9418e" /><Relationship Type="http://schemas.openxmlformats.org/officeDocument/2006/relationships/notesMaster" Target="/ppt/notesMasters/notesMaster1.xml" Id="Re1d43c662c1845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9c95a5ee694561" /><Relationship Type="http://schemas.openxmlformats.org/officeDocument/2006/relationships/notesMaster" Target="/ppt/notesMasters/notesMaster1.xml" Id="Rcce3db5924db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apresentação permite que toda a equipe compreenda e revise o projeto. O nome oficial da atividade menciona diagnóstico automatizado, mas o que entregamos é um protótipo acadêmico com dados sintéticos, sem validação clínica. A conclusão técnica deve ser diferenciada da publicação do vídeo e do envio no 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https://github.com/FabricioMouzer/fiap-segundo-ano-2026/tree/main/fase-1/cardioia-batimentos-de-dados</a:t>
            </a:r>
          </a:p>
          <a:p xmlns:a="http://schemas.openxmlformats.org/drawingml/2006/main">
            <a:r>
              <a:t>- https://github.com/FabricioMouzer/fiap-segundo-ano-2026/tree/main/fase-2/cardioia-diagnostico-automatizado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Fase 1 organizou dados numéricos, textuais e visuais. A Fase 2 passa a processar linguagem natural: identifica expressões por regras e classifica textos por um modelo estatístico. Os dois módulos são complementares, mas independentes: o classificador não recebe a lista do extrator como entrada. Todo o conteúdo é demonstrativo.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https://github.com/FabricioMouzer/fiap-segundo-ano-2026/tree/main/fase-1/cardioia-batimentos-de-dados</a:t>
            </a:r>
          </a:p>
          <a:p xmlns:a="http://schemas.openxmlformats.org/drawingml/2006/main">
            <a:r>
              <a:t>- https://github.com/FabricioMouzer/fiap-segundo-ano-2026/tree/main/fase-2/cardioia-diagnostico-automatizado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revisão encontrou uma lacuna: a continuidade era documentada, mas o código da Fase 2 ainda não lia arquivos da Fase 1. A nova integração torna o reaproveitamento verificável. O CSV serve à análise de representação e vieses; os TXT à análise de vocabulário. Eles não alimentam o treinamento dos 80 relatos. Os 100 ECGs permanecem disponíveis para fases ou desafios visuais posteriores. A documentação e os princípios de governança foram mantidos.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https://github.com/FabricioMouzer/fiap-segundo-ano-2026/tree/main/fase-1/cardioia-batimentos-de-dados</a:t>
            </a:r>
          </a:p>
          <a:p xmlns:a="http://schemas.openxmlformats.org/drawingml/2006/main">
            <a:r>
              <a:t>- https://github.com/FabricioMouzer/fiap-segundo-ano-2026/blob/main/fase-2/cardioia-diagnostico-automatizado/docs/CONTINUIDADE_FASE1.md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extrator normaliza a escrita, busca expressões no mapa e retorna os sintomas e associações educacionais, incluindo tratamento de negação dentro das regras previstas. O classificador transforma o texto em pesos TF-IDF e aplica o modelo treinado. As duas saídas têm explicações distintas. Nenhuma delas confirma uma doença.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https://github.com/FabricioMouzer/fiap-segundo-ano-2026/blob/main/fase-2/cardioia-diagnostico-automatizado/src/extrator_sintomas.py</a:t>
            </a:r>
          </a:p>
          <a:p xmlns:a="http://schemas.openxmlformats.org/drawingml/2006/main">
            <a:r>
              <a:t>- https://github.com/FabricioMouzer/fiap-segundo-ano-2026/blob/main/fase-2/cardioia-diagnostico-automatizado/src/gerar_evidencias.py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dez relatos completos pertencem ao módulo do extrator. O conjunto de classificação é outro artefato, com 80 frases balanceadas, 40 de cada classe. Frases semelhantes compartilham grupo_id, para impedir que versões do mesmo padrão apareçam simultaneamente em treino e teste. A escolha do agrupamento melhora a honestidade do teste, mas não demonstra generalização a pacientes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https://github.com/FabricioMouzer/fiap-segundo-ano-2026/blob/main/fase-2/cardioia-diagnostico-automatizado/data/raw/relatos_sintomas.txt</a:t>
            </a:r>
          </a:p>
          <a:p xmlns:a="http://schemas.openxmlformats.org/drawingml/2006/main">
            <a:r>
              <a:t>- https://github.com/FabricioMouzer/fiap-segundo-ano-2026/blob/main/fase-2/cardioia-diagnostico-automatizado/data/raw/mapa_conhecimento.csv</a:t>
            </a:r>
          </a:p>
          <a:p xmlns:a="http://schemas.openxmlformats.org/drawingml/2006/main">
            <a:r>
              <a:t>- https://github.com/FabricioMouzer/fiap-segundo-ano-2026/blob/main/fase-2/cardioia-diagnostico-automatizado/data/raw/dataset_risco.csv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corpus foi dividido por grupo_id. O TF-IDF é ajustado no conjunto de treino, e o conjunto de teste passa apenas pela transformação. Isso reduz vazamento de informação entre treino e teste. A comparação usa a mesma partição para ambos os modelos. O objetivo acadêmico é mostrar método, métricas e interpretação, não otimizar uma métrica ocultando casos difíceis.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https://github.com/FabricioMouzer/fiap-segundo-ano-2026/blob/main/fase-2/cardioia-diagnostico-automatizado/src/gerar_evidencias.py</a:t>
            </a:r>
          </a:p>
          <a:p xmlns:a="http://schemas.openxmlformats.org/drawingml/2006/main">
            <a:r>
              <a:t>- https://github.com/FabricioMouzer/fiap-segundo-ano-2026/blob/main/fase-2/cardioia-diagnostico-automatizado/notebooks/classificador_risco_tfidf.ipynb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teste sintético com 20 relatos, a Regressão Logística teve acurácia, precisão, recall e F1 de 80% para alto risco. A árvore teve acurácia de 30%, precisão de 25%, recall de 20% e F1 de 22,2%. A regressão acertou 16 de 20 relatos e detectou oito dos dez relatos rotulados como alto risco. O teste é pequeno: uma previsão equivale a cinco pontos percentuais de acurácia. A seleção nesta comparação é acadêmica e não substitui validação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https://github.com/FabricioMouzer/fiap-segundo-ano-2026/blob/main/fase-2/cardioia-diagnostico-automatizado/data/processed/metricas_modelos.json</a:t>
            </a:r>
          </a:p>
          <a:p xmlns:a="http://schemas.openxmlformats.org/drawingml/2006/main">
            <a:r>
              <a:t>- https://github.com/FabricioMouzer/fiap-segundo-ano-2026/blob/main/fase-2/cardioia-diagnostico-automatizado/docs/RESULTADOS_VALIDACAO.md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quatro erros estão concentrados em dois grupos linguísticos, cada qual com duas variações. Duas frases sobre perda de consciência após palpitações eram alto risco e receberam baixo risco; duas frases sobre pontada breve no peito já resolvida eram baixo risco e receberam alto risco. Esses casos foram preservados. O classificador não compreende a situação como um profissional. A revisão deve discutir dados, contexto, negação e representatividade, sem reescrever o teste para melhorar a nota.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https://github.com/FabricioMouzer/fiap-segundo-ano-2026/blob/main/fase-2/cardioia-diagnostico-automatizado/docs/ANALISE_ERROS_MODELO.md</a:t>
            </a:r>
          </a:p>
          <a:p xmlns:a="http://schemas.openxmlformats.org/drawingml/2006/main">
            <a:r>
              <a:t>- https://github.com/FabricioMouzer/fiap-segundo-ano-2026/blob/main/fase-2/cardioia-diagnostico-automatizado/data/processed/erros_regressao_logistica.csv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Parte 2 pede montar uma pequena base simulada com frases médicas rotuladas. O corpus de 80 frases atende essa escolha metodológica; a ponte da Fase 1 permanece uma exploração separada. As correções devem ser lidas nas evidências finais do repositório: integração com a Fase 1, método de reprodução, notebook executado, testes e atualização da documentação. O extrator teve correções de negação por oração e enumeração; o notebook deixou de perder as saídas. A Regressão Logística é fixa na demonstração, sem seleção automática por desempenho no teste. Os artefatos estáveis e métricas se repetiram em duas execuções, desconsiderado apenas o timestamp das métricas. A ponte não transforma a base numérica em corpus textual de treinamento. O objetivo é tornar explícito o que foi reaproveitado e permitir que qualquer integrante repita as verificações. 19 testes aprovados.</a:t>
            </a:r>
          </a:p>
          <a:p xmlns:a="http://schemas.openxmlformats.org/drawingml/2006/main">
            <a:r>
              <a:t>10 células executadas e 2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https://github.com/FabricioMouzer/fiap-segundo-ano-2026/blob/main/fase-2/cardioia-diagnostico-automatizado/docs/CONTINUIDADE_FASE1.md</a:t>
            </a:r>
          </a:p>
          <a:p xmlns:a="http://schemas.openxmlformats.org/drawingml/2006/main">
            <a:r>
              <a:t>- https://github.com/FabricioMouzer/fiap-segundo-ano-2026/blob/main/fase-2/cardioia-diagnostico-automatizado/docs/RESULTADOS_VALIDACAO.md</a:t>
            </a:r>
          </a:p>
          <a:p xmlns:a="http://schemas.openxmlformats.org/drawingml/2006/main">
            <a:r>
              <a:t>- https://github.com/FabricioMouzer/fiap-segundo-ano-2026/tree/main/fase-2/cardioia-diagnostico-automatizado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núcleo não depende de uma API de IA generativa. Python executa a lógica, pandas trabalha os dados e scikit-learn implementa TF-IDF, treinamento e avaliação. Jupyter documenta a execução. Os testes usam unittest. O GitHub concentra fontes e histórico. O portal visual é um complemento de demonstração e não substitui os arquivos exigidos pela FIAP. As ferramentas de apoio à elaboração da apresentação não fazem parte da inferência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https://github.com/FabricioMouzer/fiap-segundo-ano-2026/blob/main/fase-2/cardioia-diagnostico-automatizado/requirements.txt</a:t>
            </a:r>
          </a:p>
          <a:p xmlns:a="http://schemas.openxmlformats.org/drawingml/2006/main">
            <a:r>
              <a:t>- https://github.com/FabricioMouzer/fiap-segundo-ano-2026/blob/main/fase-2/cardioia-diagnostico-automatizado/docs/RECURSOS_E_ARQUITETURA.md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valores mostrados são pesos do barema, não pontos já concedidos pelo professor. O núcleo técnico soma oito pontos possíveis e o vídeo soma dois. Publicar o vídeo como não listado e inserir o link no README. O vídeo deve ter até quatro minutos, estar não listado no YouTube e ter link no README. Depois a equipe deve revisar e registrar o envio na plataforma FIAP. Prazo informado: 07/10/2026, sem horário confirmado. Nenhuma submissão acadêmica foi inferida apenas pela existência do repositório.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https://github.com/FabricioMouzer/fiap-segundo-ano-2026/blob/main/fase-2/cardioia-diagnostico-automatizado/docs/MATRIZ_BAREMA.md</a:t>
            </a:r>
          </a:p>
          <a:p xmlns:a="http://schemas.openxmlformats.org/drawingml/2006/main">
            <a:r>
              <a:t>- https://github.com/FabricioMouzer/fiap-segundo-ano-2026/blob/main/fase-2/cardioia-diagnostico-automatizado/docs/CHECKLIST_ENTREGA.md</a:t>
            </a:r>
          </a:p>
          <a:p xmlns:a="http://schemas.openxmlformats.org/drawingml/2006/main">
            <a:r>
              <a:t>- https://github.com/FabricioMouzer/fiap-segundo-ano-2026/blob/main/fase-2/cardioia-diagnostico-automatizado/docs/ROTEIRO_VIDEO.md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integrantes e RMs foram fornecidos por Fabrício e registrados no repositório. Não atribuímos novas responsabilidades pessoais sem confirmação. A sugestão é que cada integrante entenda os módulos, confira uma evidência e consiga explicar os limites. A publicação do vídeo e o envio acadêmico só ficam concluídos com links e comprovantes, respectivamente.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https://github.com/FabricioMouzer/fiap-segundo-ano-2026/tree/main/fase-2/cardioia-diagnostico-automatizado</a:t>
            </a:r>
          </a:p>
          <a:p xmlns:a="http://schemas.openxmlformats.org/drawingml/2006/main">
            <a:r>
              <a:t>- https://github.com/FabricioMouzer/fiap-segundo-ano-2026/blob/main/fase-2/cardioia-diagnostico-automatizado/docs/CHECKLIST_ENTREGA.md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Estes links levam à fonte oficial do projeto, ao trabalho anterior, ao notebook e ao checklist. A equipe pode usá-los durante a apresentação para conferir os fatos. A ação final é revisar o conteúdo, publicar o vídeo exigido e registrar a entrega na FIAP. A existência desta apresentação não significa que essas duas últimas ações já foram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https://github.com/FabricioMouzer/fiap-segundo-ano-2026</a:t>
            </a:r>
          </a:p>
          <a:p xmlns:a="http://schemas.openxmlformats.org/drawingml/2006/main">
            <a:r>
              <a:t>- https://github.com/FabricioMouzer/fiap-segundo-ano-2026/tree/main/fase-1/cardioia-batimentos-de-dados</a:t>
            </a:r>
          </a:p>
          <a:p xmlns:a="http://schemas.openxmlformats.org/drawingml/2006/main">
            <a:r>
              <a:t>- https://github.com/FabricioMouzer/fiap-segundo-ano-2026/tree/main/fase-2/cardioia-diagnostico-automatizado</a:t>
            </a:r>
          </a:p>
          <a:p xmlns:a="http://schemas.openxmlformats.org/drawingml/2006/main">
            <a:r>
              <a:t>- https://github.com/FabricioMouzer/fiap-segundo-ano-2026/blob/main/fase-2/cardioia-diagnostico-automatizado/notebooks/classificador_risco_tfidf.ipynb</a:t>
            </a:r>
          </a:p>
          <a:p xmlns:a="http://schemas.openxmlformats.org/drawingml/2006/main">
            <a:r>
              <a:t>- https://github.com/FabricioMouzer/fiap-segundo-ano-2026/blob/main/fase-2/cardioia-diagnostico-automatizado/docs/CHECKLIST_ENTREGA.md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953184474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a4633846c4a21" /><Relationship Type="http://schemas.openxmlformats.org/officeDocument/2006/relationships/slideLayout" Target="/ppt/slideLayouts/slideLayout1.xml" Id="R273c3bf64a88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c3bf64a88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ceb5beaa84586" /><Relationship Type="http://schemas.openxmlformats.org/officeDocument/2006/relationships/notesSlide" Target="/ppt/notesSlides/notesSlide1.xml" Id="R7e319735e7f0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410c08341425f" /><Relationship Type="http://schemas.openxmlformats.org/officeDocument/2006/relationships/notesSlide" Target="/ppt/notesSlides/notesSlide2.xml" Id="Rf91ac0267516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6c353da274014" /><Relationship Type="http://schemas.openxmlformats.org/officeDocument/2006/relationships/notesSlide" Target="/ppt/notesSlides/notesSlide3.xml" Id="Rbb71b131a457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cbbea69304160" /><Relationship Type="http://schemas.openxmlformats.org/officeDocument/2006/relationships/notesSlide" Target="/ppt/notesSlides/notesSlide4.xml" Id="R2a5a2a35adae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47ae6a2cf4999" /><Relationship Type="http://schemas.openxmlformats.org/officeDocument/2006/relationships/notesSlide" Target="/ppt/notesSlides/notesSlide5.xml" Id="R3ea127d5ec634b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5d1596134f60" /><Relationship Type="http://schemas.openxmlformats.org/officeDocument/2006/relationships/notesSlide" Target="/ppt/notesSlides/notesSlide6.xml" Id="R8e0bd5ae55e544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b24c835d34b62" /><Relationship Type="http://schemas.openxmlformats.org/officeDocument/2006/relationships/chart" Target="/ppt/slides/charts/chart1.xml" Id="R26b6bc933be949bd" /><Relationship Type="http://schemas.openxmlformats.org/officeDocument/2006/relationships/notesSlide" Target="/ppt/notesSlides/notesSlide7.xml" Id="R000a12a25f0543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60567319f4d15" /><Relationship Type="http://schemas.openxmlformats.org/officeDocument/2006/relationships/notesSlide" Target="/ppt/notesSlides/notesSlide8.xml" Id="R2589877b449245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f0625c7ce4699" /><Relationship Type="http://schemas.openxmlformats.org/officeDocument/2006/relationships/notesSlide" Target="/ppt/notesSlides/notesSlide9.xml" Id="R5dd61239ee0c42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686e42904dab" /><Relationship Type="http://schemas.openxmlformats.org/officeDocument/2006/relationships/notesSlide" Target="/ppt/notesSlides/notesSlide10.xml" Id="R01c98f30ad1349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f5f3d332346f2" /><Relationship Type="http://schemas.openxmlformats.org/officeDocument/2006/relationships/notesSlide" Target="/ppt/notesSlides/notesSlide11.xml" Id="Ra4a1c206d75648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ba5d3611c4e8d" /><Relationship Type="http://schemas.openxmlformats.org/officeDocument/2006/relationships/notesSlide" Target="/ppt/notesSlides/notesSlide12.xml" Id="Rbeac889f27ab4a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54dc64bbb4fc3" /><Relationship Type="http://schemas.openxmlformats.org/officeDocument/2006/relationships/hyperlink" Target="https://github.com/FabricioMouzer/fiap-segundo-ano-2026" TargetMode="External" Id="Rb371bd0c19bd4952" /><Relationship Type="http://schemas.openxmlformats.org/officeDocument/2006/relationships/hyperlink" Target="https://github.com/FabricioMouzer/fiap-segundo-ano-2026/tree/main/fase-1/cardioia-batimentos-de-dados" TargetMode="External" Id="Rb7801e1228584820" /><Relationship Type="http://schemas.openxmlformats.org/officeDocument/2006/relationships/hyperlink" Target="https://github.com/FabricioMouzer/fiap-segundo-ano-2026/tree/main/fase-2/cardioia-diagnostico-automatizado" TargetMode="External" Id="R8f577c57d8384130" /><Relationship Type="http://schemas.openxmlformats.org/officeDocument/2006/relationships/hyperlink" Target="https://github.com/FabricioMouzer/fiap-segundo-ano-2026/blob/main/fase-2/cardioia-diagnostico-automatizado/notebooks/classificador_risco_tfidf.ipynb" TargetMode="External" Id="R3a9b7a9fe00749f0" /><Relationship Type="http://schemas.openxmlformats.org/officeDocument/2006/relationships/hyperlink" Target="https://github.com/FabricioMouzer/fiap-segundo-ano-2026/blob/main/fase-2/cardioia-diagnostico-automatizado/docs/CHECKLIST_ENTREGA.md" TargetMode="External" Id="Rcc058bbdb5714b35" /><Relationship Type="http://schemas.openxmlformats.org/officeDocument/2006/relationships/hyperlink" Target="https://github.com/FabricioMouzer/fiap-segundo-ano-2026/blob/main/fase-2/cardioia-diagnostico-automatizado/docs/CONTINUIDADE_FASE1.md" TargetMode="External" Id="Rccd1ccb07d7043b6" /><Relationship Type="http://schemas.openxmlformats.org/officeDocument/2006/relationships/notesSlide" Target="/ppt/notesSlides/notesSlide13.xml" Id="R057f3a80ac67414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Regressão Logística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Acurácia</c:v>
              </c:pt>
              <c:pt idx="1">
                <c:v>Recall alto risco</c:v>
              </c:pt>
            </c:strLit>
          </c:cat>
          <c:val>
            <c:numLit>
              <c:formatCode>General</c:formatCode>
              <c:ptCount val="2"/>
              <c:pt idx="0">
                <c:v>80</c:v>
              </c:pt>
              <c:pt idx="1">
                <c:v>80</c:v>
              </c:pt>
            </c:numLit>
          </c:val>
        </c:ser>
        <c:ser>
          <c:idx val="1"/>
          <c:order val="1"/>
          <c:tx>
            <c:v>Árvore de Decisão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Acurácia</c:v>
              </c:pt>
              <c:pt idx="1">
                <c:v>Recall alto risco</c:v>
              </c:pt>
            </c:strLit>
          </c:cat>
          <c:val>
            <c:numLit>
              <c:formatCode>General</c:formatCode>
              <c:ptCount val="2"/>
              <c:pt idx="0">
                <c:v>30</c:v>
              </c:pt>
              <c:pt idx="1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11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11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168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0111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97064E6-B9BB-430A-9251-48BA8175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FIAP 2026  /  REVISÃO PARA A EQUIPE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107456B-4B42-4B5F-A40E-393A6AA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668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60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CardioIA</a:t>
            </a:r>
          </a:p>
          <a:p xmlns:a="http://schemas.openxmlformats.org/drawingml/2006/main">
            <a:pPr>
              <a:defRPr sz="60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60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Fase 2 revisada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78471C9-17AB-4829-B2AD-D26A28AE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 que construímos, como validamos</a:t>
            </a:r>
          </a:p>
          <a:p xmlns:a="http://schemas.openxmlformats.org/drawingml/2006/main">
            <a:pPr>
              <a:defRPr sz="24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 como a Fase 1 foi aproveitada.</a:t>
            </a:r>
          </a:p>
        </p:txBody>
      </p:sp>
      <p:sp>
        <p:nvSpPr>
          <p:cNvPr id="4" name="cover-date">
            <a:extLst xmlns:a="http://schemas.openxmlformats.org/drawingml/2006/main">
              <a:ext uri="{FF2B5EF4-FFF2-40B4-BE49-F238E27FC236}">
                <a16:creationId xmlns:a16="http://schemas.microsoft.com/office/drawing/2014/main" id="{B0D8DB76-7BC0-4D38-9A40-2CFE6FF0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857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Revisão de 05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331252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2462FCF-E318-4AF8-B4ED-9A65EED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01 / EVOLUÇÃO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2CEC40-AAF1-429D-8351-9F996F9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 base evoluiu para um protótipo de NLP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3913B8B-75C8-4D23-86CA-694CC830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AE96160-9EA4-49C0-AF65-EB1596D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CF20D426-E2E4-46AC-8FFC-4E12EA7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Fase 1: organizar dados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7411F70D-B8DB-41E4-8978-AFE9C47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150 registros e 17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Dois textos contextuais e 100 ECGs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Dicionário, geração reproduzível e governança.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3E2304CA-A360-4042-ACDD-F21D28B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Fase 2: interpretar relatos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1D06FFEB-2696-4360-BA4F-2809A101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Extrator de sintomas com mapa de conhecimento.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TF-IDF e dois classificadores comparados.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Métricas, erros e evidências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1796347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6070AC6-355E-4345-AEED-721527C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02 / CONTINUIDADE COMPROVÁVEL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668FEC-DC5F-4F9C-BABD-1C75CBC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 que reaproveitamos da Fase 1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59059D1-08C2-46EA-8BF8-E7256D28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2F31805-9A0B-4F4D-B855-7CA03D7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AFC580F2-29FA-4B53-A3AE-7D73431F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O conjunto de treino textual foi criado para a Fase 2.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0350"/>
                <a:gridCol w="4086225"/>
                <a:gridCol w="4086225"/>
              </a:tblGrid>
              <a:tr h="75057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Artefato anterior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Uso na Fase 2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75057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CSV: 150 × 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Análise de representação e vieses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Não treina o classificador textual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Dois TXT contextuais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Leitura e análise de vocabulário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Não são os 80 relatos rotulados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100 ECGs sintéticos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Acervo preservado para evolução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Não entram no TF-IDF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Governança e estrutura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Rastreabilidade, privacidade e organização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Resultados sem validade clínica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843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B8DAAD1-54E3-4F56-BDB2-AA04023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03 / FUNCIONAMENTO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3F5D0A-DD86-4AF7-97C0-3CC9238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Dois módulos analisam o mesmo relato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A18DCB3-3C8E-47A6-A859-C3ADC6EE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CCF2E72-2F05-40D2-95CB-E5718C3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A9D58846-3F08-4C34-AC81-42B50B1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1. Extrator por regras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D2F080FF-5D9A-46C1-9AD9-448D5442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Texto → normalização → busca no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Identifica múltiplos sintomas e trata negações previstas.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Retorna correspondências e associações educacionais.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F54AD760-D3F1-439B-B21D-6927AE75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2. Classificador textual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0EBE8219-6D44-4010-95BB-C29FC07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Texto → TF-IDF → modelo treinado.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Estima a classe do relato: baixo ou alto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Aprende padrões de palavras do corpus sintético.</a:t>
            </a:r>
          </a:p>
        </p:txBody>
      </p:sp>
    </p:spTree>
    <p:extLst>
      <p:ext uri="{BB962C8B-B14F-4D97-AF65-F5344CB8AC3E}">
        <p14:creationId xmlns:p14="http://schemas.microsoft.com/office/powerpoint/2010/main" val="416348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2E62C23-D4A9-4644-830A-282174A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04 / EVIDÊNCIAS DE ENTRADA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3783DB-17E3-4B67-9352-BBCB3F00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Os dados permitem repetir o experimento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6D766AD-1C59-467B-B2DA-EE8A0367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C6A89F5-1CB4-4C5B-9C84-077ED0C6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A3045192-34FA-42CC-B3FB-1BFA2735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Entradas sintéticas, com papéis separados e documentação.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2933700"/>
                <a:gridCol w="4953000"/>
              </a:tblGrid>
              <a:tr h="7239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Quantidade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Papel no experimento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7239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Relatos completos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Exercitar a extração de sintomas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Mapa de conhecimento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45 expressões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Associar sintomas, sinônimos e hipóteses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Dataset de risco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80 frases: 40 + 40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Treinar e avaliar a classificação textual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Partição por grupos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60 treino / 20 teste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Manter variações do mesmo padrão juntas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20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8696450-D890-47DF-87EF-F8B5E1B1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05 / MÉTODO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2D319D-ADAF-4978-88FD-C204507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 treino preservou os grupos linguísticos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EA0D505-41C4-43F9-BE08-E000404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74BC491-DADC-4566-B54E-724F5F3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35D3B68B-E857-4FAB-BBC1-E5B3EB9B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Como chegamos ao resultado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907B5D89-1114-4C2C-8B13-E0771404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1. Validamos os arquivos e os rótulos.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2. Separamos os grupos em treino 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3. Ajustamos o TF-IDF apenas no treino.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8E1B423E-9C5C-4F94-B4DB-C617297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Como fizemos a comparação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121B5263-59FC-47A3-8BB0-7AEFE6D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4. Treinamos Regressão Logística e Árvore de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5. Medimos as duas no mesmo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6. Mantivemos os erros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1723307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867D80B6-771F-4687-9C63-F56DC5B3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06 / RESULTADO DO TESTE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7B520D-C14D-4EBD-AA83-D7C9630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 Regressão Logística obteve 80%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2918B6C-C286-4E62-AF18-23C7C00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40FB8EC-B8B7-4A32-B14F-1E01770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4768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b6bc933be949bd"/>
          </a:graphicData>
        </a:graphic>
      </p:graphicFrame>
      <p:sp>
        <p:nvSpPr>
          <p:cNvPr id="6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3BC60DE8-A87B-41CC-828D-B720680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24075"/>
            <a:ext cx="4905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Melhor nesta comparação</a:t>
            </a:r>
          </a:p>
        </p:txBody>
      </p:sp>
      <p:sp>
        <p:nvSpPr>
          <p:cNvPr id="7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D20916F0-8E17-4E66-9B54-9EF41AF0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895600"/>
            <a:ext cx="4905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Base pequena e sintética.</a:t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 resultado sustenta a demonstração acadêmica.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B8EFC62D-2F2D-43CB-AD7B-CADC486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333875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sp>
        <p:nvSpPr>
          <p:cNvPr id="9" name="stat-1-label">
            <a:extLst xmlns:a="http://schemas.openxmlformats.org/drawingml/2006/main">
              <a:ext uri="{FF2B5EF4-FFF2-40B4-BE49-F238E27FC236}">
                <a16:creationId xmlns:a16="http://schemas.microsoft.com/office/drawing/2014/main" id="{EB5E0221-81AD-4279-9DB6-D4EFAC7F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95875"/>
            <a:ext cx="2286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relatos classificados</a:t>
            </a:r>
          </a:p>
          <a:p xmlns:a="http://schemas.openxmlformats.org/drawingml/2006/main">
            <a:pPr>
              <a:defRPr sz="17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corretamente</a:t>
            </a:r>
          </a:p>
        </p:txBody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8F9E1816-52F1-405C-A1C7-FFA71173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11" name="stat-2-label">
            <a:extLst xmlns:a="http://schemas.openxmlformats.org/drawingml/2006/main">
              <a:ext uri="{FF2B5EF4-FFF2-40B4-BE49-F238E27FC236}">
                <a16:creationId xmlns:a16="http://schemas.microsoft.com/office/drawing/2014/main" id="{6E25CCBC-C147-4D0E-9C75-33BF57C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2247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casos de alto risco</a:t>
            </a:r>
          </a:p>
          <a:p xmlns:a="http://schemas.openxmlformats.org/drawingml/2006/main">
            <a:pPr>
              <a:defRPr sz="17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reconhecidos</a:t>
            </a:r>
          </a:p>
        </p:txBody>
      </p:sp>
    </p:spTree>
    <p:extLst>
      <p:ext uri="{BB962C8B-B14F-4D97-AF65-F5344CB8AC3E}">
        <p14:creationId xmlns:p14="http://schemas.microsoft.com/office/powerpoint/2010/main" val="2124589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D4725547-6552-425C-8B26-7A02528F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07 / ANÁLISE CRÍTICA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E86B3F-DAE6-4262-B10E-19FAED4F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Os quatro erros revelam o limite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6AAECE9-B1BB-406F-9E39-3F9D564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B913969-0053-4AC6-A170-6E3A9A1D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D57AB33D-8CAF-44DE-8350-D0BE137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2 falsos negativos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749F9490-B3F8-42D6-A1F0-0E9C201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Relatos de perda de consciência após palpitações.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Esperado: alto risco.</a:t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Previsto: baixo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Casos relevantes passaram despercebidos.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80C66004-D93D-41B3-A902-7789F6FB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2 falsos positivos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A986BBC1-BDA2-48BF-BD8E-4A320D8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Relatos de pontada breve no peito, já resolvida.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Esperado: baixo risco.</a:t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Previsto: alto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 vocabulário levou a alertas indevidos.</a:t>
            </a:r>
          </a:p>
        </p:txBody>
      </p:sp>
    </p:spTree>
    <p:extLst>
      <p:ext uri="{BB962C8B-B14F-4D97-AF65-F5344CB8AC3E}">
        <p14:creationId xmlns:p14="http://schemas.microsoft.com/office/powerpoint/2010/main" val="513056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2467637-B810-45BF-851E-978A7AC8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08 / REVISÃO DESTA ETAPA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86DE92-7F87-4B95-8F6E-512D2958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 revisão fecha lacunas de execução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9BF43E0-17D1-4A8C-A091-61ABBCB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A42ACDC-799B-47FF-A0F6-1877121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7DF04392-0A80-4E10-9FBA-402D371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Continuidade comprovável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C982E20C-B1DB-47EA-BDE3-47BCC56E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CSV de 150 × 17 e dois TXT lidos pela integração.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Hashes e arquivos de saída registram a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Os rótulos da Fase 1 e da Fase 2 têm significados distintos.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DE809671-7FA8-46D9-A267-C1FFF19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Execução revisada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1455643C-C8A2-4E3C-BEC3-4E2D77F2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19 testes aprovados.</a:t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10 células executadas e 2 gráficos.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Negação corrigida; saídas do notebook preservadas.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Resultados reproduzidos em duas execuções.</a:t>
            </a:r>
          </a:p>
        </p:txBody>
      </p:sp>
    </p:spTree>
    <p:extLst>
      <p:ext uri="{BB962C8B-B14F-4D97-AF65-F5344CB8AC3E}">
        <p14:creationId xmlns:p14="http://schemas.microsoft.com/office/powerpoint/2010/main" val="229960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4CB613C-397E-402C-B689-245802E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09 / RECURSOS UTILIZADOS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44DD8E-8F5E-42E9-8774-2AE1934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Cada ferramenta cumpre uma função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DBFADB9-3277-415C-95BB-725DF90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4E5AFCF-3BF6-474C-AFAD-5327011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88EB44D9-8A7F-4A35-A977-4A87700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A solução combina regras explícitas e Machine Learning clássico.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57575"/>
                <a:gridCol w="7515225"/>
              </a:tblGrid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Recurso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Aplicação comprovável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Python + pandas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Gerar, ler, validar e transformar dados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scikit-learn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TF-IDF, classificadores e métricas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Jupyter + matplotlib/seaborn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Notebook executável e visualização dos resultados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unittest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Verificação automática de dados e comportamento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GitHub + documentação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Código, rastreabilidade e revisão da equipe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React + Vite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Portal complementar para demonstrar o protótipo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24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6851520-97AC-437C-A771-06ED3155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10 / CRITÉRIOS DA ATIVIDADE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8A38D7-6827-4F5A-98AF-BD7E9668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Vídeo e envio ainda encerram a entrega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ADCAB85-E23B-45BB-9709-A5794C44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C4CA078-6F22-41F1-8512-E2A43CE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5B71C111-9C34-4EB1-B6C0-51940D9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8 pontos: evidências técnicas. 2 pontos: vídeo. Avaliação cabe à FIAP.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1219200"/>
                <a:gridCol w="4419600"/>
              </a:tblGrid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Critério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Peso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Situação para revisão</a:t>
                      </a:r>
                    </a:p>
                  </a:txBody>
                  <a:tcPr marL="91440" marR="91440" marT="45720" marB="45720" anchor="ctr">
                    <a:solidFill>
                      <a:srgbClr val="EDEDED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Relatos e mapa de conhecimento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Implementados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Código de extração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Executado e testado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Dataset de risco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Criado e validado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Classificador treinado e testado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Notebook e resultados disponíveis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Documentação e repositório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Revisados; conferir links finais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Vídeo demonstrativo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1114"/>
                          </a:solidFill>
                          <a:latin typeface="Arial"/>
                          <a:ea typeface="Arial"/>
                          <a:cs typeface="Arial"/>
                        </a:rPr>
                        <a:t>Publicação e link no README pendentes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2590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209465B-B88E-4E27-A435-CD082EB2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11 / FECHAMENTO CONJUNTO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BDA6EB-B77E-402C-B929-C1F31543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 revisão final é responsabilidade da equipe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208F075-7C72-4574-9B72-89786B1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A23ECE7-C9EE-4CEF-BD75-953E7BA4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40E5853C-0914-4651-A1C1-AA1C932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Integrantes confirmados</a:t>
            </a:r>
          </a:p>
        </p:txBody>
      </p:sp>
      <p:sp>
        <p:nvSpPr>
          <p:cNvPr id="6" name="column-body">
            <a:extLst xmlns:a="http://schemas.openxmlformats.org/drawingml/2006/main">
              <a:ext uri="{FF2B5EF4-FFF2-40B4-BE49-F238E27FC236}">
                <a16:creationId xmlns:a16="http://schemas.microsoft.com/office/drawing/2014/main" id="{8530E709-A4A4-4EB2-A1AB-2254AD42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Fabrício Mouzer Brito · RM566777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Enzo Nunes Castanheira Gloria da Silva</a:t>
            </a:r>
          </a:p>
          <a:p xmlns:a="http://schemas.openxmlformats.org/drawingml/2006/main">
            <a:pPr>
              <a:defRPr sz="16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RM567599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Larissa Nunes Moreira Reis · RM568280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Gabriel Rapozo Guimarães Soares · RM568480</a:t>
            </a:r>
          </a:p>
        </p:txBody>
      </p:sp>
      <p:sp>
        <p:nvSpPr>
          <p:cNvPr id="7" name="column-heading">
            <a:extLst xmlns:a="http://schemas.openxmlformats.org/drawingml/2006/main">
              <a:ext uri="{FF2B5EF4-FFF2-40B4-BE49-F238E27FC236}">
                <a16:creationId xmlns:a16="http://schemas.microsoft.com/office/drawing/2014/main" id="{FADE453E-D582-4205-9B96-04ED607B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24075"/>
            <a:ext cx="5076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1114"/>
                </a:solidFill>
                <a:latin typeface="Arial"/>
                <a:ea typeface="Arial"/>
                <a:cs typeface="Arial"/>
              </a:rPr>
              <a:t>Últimas ações</a:t>
            </a:r>
          </a:p>
        </p:txBody>
      </p:sp>
      <p:sp>
        <p:nvSpPr>
          <p:cNvPr id="8" name="column-body">
            <a:extLst xmlns:a="http://schemas.openxmlformats.org/drawingml/2006/main">
              <a:ext uri="{FF2B5EF4-FFF2-40B4-BE49-F238E27FC236}">
                <a16:creationId xmlns:a16="http://schemas.microsoft.com/office/drawing/2014/main" id="{3D68C488-FD48-4E65-B4FA-DB3F550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90825"/>
            <a:ext cx="50768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Revisar o notebook e os quatro erros.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Publicar o vídeo como não listado e inserir o link no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Testar os links e concluir o envio no 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Prazo: 07/10/2026. Confirmar o horário.</a:t>
            </a:r>
          </a:p>
        </p:txBody>
      </p:sp>
    </p:spTree>
    <p:extLst>
      <p:ext uri="{BB962C8B-B14F-4D97-AF65-F5344CB8AC3E}">
        <p14:creationId xmlns:p14="http://schemas.microsoft.com/office/powerpoint/2010/main" val="16932654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6F3518E-62A2-4F31-B04C-5350323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12 / LINKS PARA REVISÃO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ABFDA0-D273-41DB-AD90-4EAE42B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111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114"/>
                </a:solidFill>
                <a:latin typeface="Arial"/>
                <a:ea typeface="Arial"/>
                <a:cs typeface="Arial"/>
              </a:rPr>
              <a:t>Abrir as evidências e concluir juntos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E5139B0-35AE-414E-8D0D-62311415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CARDIOIA  /  FIAP 2026  /  Uso acadêmico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767D3A8-4D2E-4F61-B1FC-2A369635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6270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1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1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evidence-link-0">
            <a:extLst xmlns:a="http://schemas.openxmlformats.org/drawingml/2006/main">
              <a:ext uri="{FF2B5EF4-FFF2-40B4-BE49-F238E27FC236}">
                <a16:creationId xmlns:a16="http://schemas.microsoft.com/office/drawing/2014/main" id="{C9816178-1658-4B6A-9B9B-C9B63910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371bd0c19bd4952"/>
              </a:rPr>
              <a:t>Repositório principal</a:t>
            </a:r>
          </a:p>
        </p:txBody>
      </p:sp>
      <p:sp>
        <p:nvSpPr>
          <p:cNvPr id="6" name="evidence-link-1">
            <a:extLst xmlns:a="http://schemas.openxmlformats.org/drawingml/2006/main">
              <a:ext uri="{FF2B5EF4-FFF2-40B4-BE49-F238E27FC236}">
                <a16:creationId xmlns:a16="http://schemas.microsoft.com/office/drawing/2014/main" id="{2D44AE22-E1CC-4381-BB87-383F5970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b7801e1228584820"/>
              </a:rPr>
              <a:t>Fase 1: base de dados e governança</a:t>
            </a:r>
          </a:p>
        </p:txBody>
      </p:sp>
      <p:sp>
        <p:nvSpPr>
          <p:cNvPr id="7" name="evidence-link-2">
            <a:extLst xmlns:a="http://schemas.openxmlformats.org/drawingml/2006/main">
              <a:ext uri="{FF2B5EF4-FFF2-40B4-BE49-F238E27FC236}">
                <a16:creationId xmlns:a16="http://schemas.microsoft.com/office/drawing/2014/main" id="{FF0A4632-AF9F-4A2E-88F4-B8BA86F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8f577c57d8384130"/>
              </a:rPr>
              <a:t>Fase 2: código e documentação</a:t>
            </a:r>
          </a:p>
        </p:txBody>
      </p:sp>
      <p:sp>
        <p:nvSpPr>
          <p:cNvPr id="8" name="evidence-link-3">
            <a:extLst xmlns:a="http://schemas.openxmlformats.org/drawingml/2006/main">
              <a:ext uri="{FF2B5EF4-FFF2-40B4-BE49-F238E27FC236}">
                <a16:creationId xmlns:a16="http://schemas.microsoft.com/office/drawing/2014/main" id="{4D41CD64-0030-46A2-89AC-B2DBB554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3a9b7a9fe00749f0"/>
              </a:rPr>
              <a:t>Notebook: método, modelos e resultados</a:t>
            </a:r>
          </a:p>
        </p:txBody>
      </p:sp>
      <p:sp>
        <p:nvSpPr>
          <p:cNvPr id="9" name="evidence-link-4">
            <a:extLst xmlns:a="http://schemas.openxmlformats.org/drawingml/2006/main">
              <a:ext uri="{FF2B5EF4-FFF2-40B4-BE49-F238E27FC236}">
                <a16:creationId xmlns:a16="http://schemas.microsoft.com/office/drawing/2014/main" id="{38934839-2E83-46A9-BA47-918C8E40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c058bbdb5714b35"/>
              </a:rPr>
              <a:t>Checklist final de entrega</a:t>
            </a:r>
          </a:p>
        </p:txBody>
      </p:sp>
      <p:sp>
        <p:nvSpPr>
          <p:cNvPr id="10" name="evidence-link-5">
            <a:extLst xmlns:a="http://schemas.openxmlformats.org/drawingml/2006/main">
              <a:ext uri="{FF2B5EF4-FFF2-40B4-BE49-F238E27FC236}">
                <a16:creationId xmlns:a16="http://schemas.microsoft.com/office/drawing/2014/main" id="{1F7862EA-E3D6-41C7-86C7-E8C99C6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cd1ccb07d7043b6"/>
              </a:rPr>
              <a:t>Continuidade: o uso real da Fase 1</a:t>
            </a:r>
          </a:p>
        </p:txBody>
      </p:sp>
    </p:spTree>
    <p:extLst>
      <p:ext uri="{BB962C8B-B14F-4D97-AF65-F5344CB8AC3E}">
        <p14:creationId xmlns:p14="http://schemas.microsoft.com/office/powerpoint/2010/main" val="1406559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2026-09-05T14:03:47.5480000Z</dcterms:created>
  <dcterms:modified xsi:type="dcterms:W3CDTF">2026-09-05T14:03:47.5480000Z</dcterms:modified>
</coreProperties>
</file>